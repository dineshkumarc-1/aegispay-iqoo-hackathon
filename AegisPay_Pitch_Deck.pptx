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solidFill>
              <a:srgbClr val="03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61104" y="914400"/>
            <a:ext cx="3657600" cy="411480"/>
          </a:xfrm>
          <a:prstGeom prst="roundRect">
            <a:avLst/>
          </a:prstGeom>
          <a:solidFill>
            <a:srgbClr val="082F49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7E8F9"/>
                </a:solidFill>
              </a:defRPr>
            </a:pPr>
            <a:r>
              <a:t>⚡ iQOO HACKATHON 2026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0152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AegisPay</a:t>
            </a:r>
          </a:p>
          <a:p>
            <a:pPr algn="ctr">
              <a:defRPr sz="2000">
                <a:solidFill>
                  <a:srgbClr val="67E8F9"/>
                </a:solidFill>
              </a:defRPr>
            </a:pPr>
            <a:r>
              <a:t>Autonomous On-Device AI Guardian for UPI &amp; QR Fraud Prevention</a:t>
            </a:r>
          </a:p>
          <a:p>
            <a:pPr algn="ctr">
              <a:defRPr sz="1300">
                <a:solidFill>
                  <a:srgbClr val="94A3B8"/>
                </a:solidFill>
              </a:defRPr>
            </a:pPr>
            <a:r>
              <a:t>Track: FinTech &amp; Commerce  |  Team: Team AegisPay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931920"/>
            <a:ext cx="2286000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6B6D4"/>
                </a:solidFill>
              </a:defRPr>
            </a:pPr>
            <a:r>
              <a:t>&lt; 12 ms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Edge NPU Latency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3931920"/>
            <a:ext cx="2286000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100% Offline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Zero Cloud Telemetry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2286000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43F5E"/>
                </a:solidFill>
              </a:defRPr>
            </a:pPr>
            <a:r>
              <a:t>ScamBait AI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Active Honeypot Trap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39" y="3931920"/>
            <a:ext cx="2286000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5 Languages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Vernacular Voice Alerts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Live Demo: aegispay-iqoo-hackathon.vercel.app  •  GitHub: github.com/dineshkumarc-1/aegispay-iqoo-hackathon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solidFill>
              <a:srgbClr val="03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7E8F9"/>
                </a:solidFill>
              </a:defRPr>
            </a:pPr>
            <a:r>
              <a:t>01. THE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₹1,750+ Crore Digital Payment Epidemic in India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Over 14 Billion UPI transactions occur monthly, but digital fraud has exploded proportionally.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3291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3F5E"/>
                </a:solidFill>
              </a:defRPr>
            </a:pPr>
            <a:r>
              <a:t>1. QR Quishing Stickers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</a:defRPr>
            </a:pPr>
            <a:r>
              <a:t>Malicious stickers pasted over authentic merchant QR codes silently route payments to mule accounts.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3291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2. Reverse PIN Deception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</a:defRPr>
            </a:pPr>
            <a:r>
              <a:t>Victims are tricked via phone calls to enter their 6-digit PIN under the claim of receiving cashback or refund credits.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3291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7E8F9"/>
                </a:solidFill>
              </a:defRPr>
            </a:pPr>
            <a:r>
              <a:t>3. Counterfeit Receipt Apps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</a:defRPr>
            </a:pPr>
            <a:r>
              <a:t>Spoofed payment confirmation apps display fake green checkmarks and simulated soundbox chimes to dupe Kirana merchants.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12080"/>
            <a:ext cx="10698480" cy="822960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0E7FF"/>
                </a:solidFill>
              </a:defRPr>
            </a:pPr>
            <a:r>
              <a:t>🎯 High-Risk Demographics: 68% of victims are first-time digital users, elderly citizens, and vernacular speakers in Tier-2/3 cities who lack cybersecurity awareness.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solidFill>
              <a:srgbClr val="03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7E8F9"/>
                </a:solidFill>
              </a:defRPr>
            </a:pPr>
            <a:r>
              <a:t>02. THE EXISTING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Why Cloud-Based Security &amp; Antivirus Defenses Fail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Traditional cloud APIs cannot prevent split-second fraud before money leaves the bank.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19202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43F5E"/>
                </a:solidFill>
              </a:defRPr>
            </a:pPr>
            <a:r>
              <a:t>❌ Cloud Latency (800ms – 2,500ms)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Fraud happens in milliseconds. Cloud roundtrips cannot stop an impulsive user tap before money leaves the bank.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19202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43F5E"/>
                </a:solidFill>
              </a:defRPr>
            </a:pPr>
            <a:r>
              <a:t>❌ DPDP Act Privacy Violations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Transmitting user SMS messages, OTPs, and personal VPA histories to remote servers introduces serious data leakage.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12080" cy="19202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43F5E"/>
                </a:solidFill>
              </a:defRPr>
            </a:pPr>
            <a:r>
              <a:t>❌ Offline &amp; Rural Blindspots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Cloud security verification fails completely in basements, underground metros, rural markets, and poor network zones.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212080" cy="19202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43F5E"/>
                </a:solidFill>
              </a:defRPr>
            </a:pPr>
            <a:r>
              <a:t>❌ Passive Warning Banners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Static text warning banners are systematically ignored by victims under active psychological manipulation.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solidFill>
              <a:srgbClr val="03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7E8F9"/>
                </a:solidFill>
              </a:defRPr>
            </a:pPr>
            <a:r>
              <a:t>03.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AegisPay: Four-Pillar On-Device Preventative Shield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Autonomous edge intelligence that protects users before, during, and after payment initiation.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Pillar 1: QR Quishing Shield</a:t>
            </a:r>
          </a:p>
          <a:p>
            <a:pPr>
              <a:spcBef>
                <a:spcPts val="500"/>
              </a:spcBef>
              <a:defRPr sz="1050">
                <a:solidFill>
                  <a:srgbClr val="E2E8F0"/>
                </a:solidFill>
              </a:defRPr>
            </a:pPr>
            <a:r>
              <a:t>• Optical AR camera parser.</a:t>
            </a:r>
          </a:p>
          <a:p>
            <a:pPr>
              <a:spcBef>
                <a:spcPts val="500"/>
              </a:spcBef>
              <a:defRPr sz="1050">
                <a:solidFill>
                  <a:srgbClr val="E2E8F0"/>
                </a:solidFill>
              </a:defRPr>
            </a:pPr>
            <a:r>
              <a:t>• Detects Payee vs VPA mismatches.</a:t>
            </a:r>
          </a:p>
          <a:p>
            <a:pPr>
              <a:spcBef>
                <a:spcPts val="500"/>
              </a:spcBef>
              <a:defRPr sz="1050">
                <a:solidFill>
                  <a:srgbClr val="E2E8F0"/>
                </a:solidFill>
              </a:defRPr>
            </a:pPr>
            <a:r>
              <a:t>• Blocks disguised collect requests.</a:t>
            </a:r>
          </a:p>
          <a:p>
            <a:pPr>
              <a:spcBef>
                <a:spcPts val="500"/>
              </a:spcBef>
              <a:defRPr sz="1050">
                <a:solidFill>
                  <a:srgbClr val="E2E8F0"/>
                </a:solidFill>
              </a:defRPr>
            </a:pPr>
            <a:r>
              <a:t>• Flags amount surcharge injections.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Pillar 2: Social Eng. Interceptor</a:t>
            </a:r>
          </a:p>
          <a:p>
            <a:pPr>
              <a:spcBef>
                <a:spcPts val="500"/>
              </a:spcBef>
              <a:defRPr sz="1050">
                <a:solidFill>
                  <a:srgbClr val="E2E8F0"/>
                </a:solidFill>
              </a:defRPr>
            </a:pPr>
            <a:r>
              <a:t>• Quantized MobileBERT on NPU.</a:t>
            </a:r>
          </a:p>
          <a:p>
            <a:pPr>
              <a:spcBef>
                <a:spcPts val="500"/>
              </a:spcBef>
              <a:defRPr sz="1050">
                <a:solidFill>
                  <a:srgbClr val="E2E8F0"/>
                </a:solidFill>
              </a:defRPr>
            </a:pPr>
            <a:r>
              <a:t>• Detects urgency &amp; AnyDesk baits.</a:t>
            </a:r>
          </a:p>
          <a:p>
            <a:pPr>
              <a:spcBef>
                <a:spcPts val="500"/>
              </a:spcBef>
              <a:defRPr sz="1050">
                <a:solidFill>
                  <a:srgbClr val="E2E8F0"/>
                </a:solidFill>
              </a:defRPr>
            </a:pPr>
            <a:r>
              <a:t>• Multi-lingual voice alerts (Tamil/Hindi).</a:t>
            </a:r>
          </a:p>
          <a:p>
            <a:pPr>
              <a:spcBef>
                <a:spcPts val="500"/>
              </a:spcBef>
              <a:defRPr sz="1050">
                <a:solidFill>
                  <a:srgbClr val="E2E8F0"/>
                </a:solidFill>
              </a:defRPr>
            </a:pPr>
            <a:r>
              <a:t>• Android touch barrier overlay lock.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Pillar 3: Receipt Guard</a:t>
            </a:r>
          </a:p>
          <a:p>
            <a:pPr>
              <a:spcBef>
                <a:spcPts val="500"/>
              </a:spcBef>
              <a:defRPr sz="1050">
                <a:solidFill>
                  <a:srgbClr val="E2E8F0"/>
                </a:solidFill>
              </a:defRPr>
            </a:pPr>
            <a:r>
              <a:t>• On-device CV font-kerning check.</a:t>
            </a:r>
          </a:p>
          <a:p>
            <a:pPr>
              <a:spcBef>
                <a:spcPts val="500"/>
              </a:spcBef>
              <a:defRPr sz="1050">
                <a:solidFill>
                  <a:srgbClr val="E2E8F0"/>
                </a:solidFill>
              </a:defRPr>
            </a:pPr>
            <a:r>
              <a:t>• Luhn Mod-10 UTR checksum.</a:t>
            </a:r>
          </a:p>
          <a:p>
            <a:pPr>
              <a:spcBef>
                <a:spcPts val="500"/>
              </a:spcBef>
              <a:defRPr sz="1050">
                <a:solidFill>
                  <a:srgbClr val="E2E8F0"/>
                </a:solidFill>
              </a:defRPr>
            </a:pPr>
            <a:r>
              <a:t>• Validates dynamic animation hashes.</a:t>
            </a:r>
          </a:p>
          <a:p>
            <a:pPr>
              <a:spcBef>
                <a:spcPts val="500"/>
              </a:spcBef>
              <a:defRPr sz="1050">
                <a:solidFill>
                  <a:srgbClr val="E2E8F0"/>
                </a:solidFill>
              </a:defRPr>
            </a:pPr>
            <a:r>
              <a:t>• Catches fake Paytm/GPay spoof apps.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43F5E"/>
                </a:solidFill>
              </a:defRPr>
            </a:pPr>
            <a:r>
              <a:t>Pillar 4: 🤖 ScamBait Honeypot</a:t>
            </a:r>
          </a:p>
          <a:p>
            <a:pPr>
              <a:spcBef>
                <a:spcPts val="500"/>
              </a:spcBef>
              <a:defRPr sz="1050">
                <a:solidFill>
                  <a:srgbClr val="E2E8F0"/>
                </a:solidFill>
              </a:defRPr>
            </a:pPr>
            <a:r>
              <a:t>• Autonomous AI voice persona trap.</a:t>
            </a:r>
          </a:p>
          <a:p>
            <a:pPr>
              <a:spcBef>
                <a:spcPts val="500"/>
              </a:spcBef>
              <a:defRPr sz="1050">
                <a:solidFill>
                  <a:srgbClr val="E2E8F0"/>
                </a:solidFill>
              </a:defRPr>
            </a:pPr>
            <a:r>
              <a:t>• Wastes scammer time on call.</a:t>
            </a:r>
          </a:p>
          <a:p>
            <a:pPr>
              <a:spcBef>
                <a:spcPts val="500"/>
              </a:spcBef>
              <a:defRPr sz="1050">
                <a:solidFill>
                  <a:srgbClr val="E2E8F0"/>
                </a:solidFill>
              </a:defRPr>
            </a:pPr>
            <a:r>
              <a:t>• Secretly extracts mule VPA handles.</a:t>
            </a:r>
          </a:p>
          <a:p>
            <a:pPr>
              <a:spcBef>
                <a:spcPts val="500"/>
              </a:spcBef>
              <a:defRPr sz="1050">
                <a:solidFill>
                  <a:srgbClr val="E2E8F0"/>
                </a:solidFill>
              </a:defRPr>
            </a:pPr>
            <a:r>
              <a:t>• Auto-generates 1930 Cybercrime FIR.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solidFill>
              <a:srgbClr val="03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7E8F9"/>
                </a:solidFill>
              </a:defRPr>
            </a:pPr>
            <a:r>
              <a:t>04. HARDWARE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Why Phone-First? Deep Integration with Native Mobile Sensors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AegisPay fundamentally requires native hardware capabilities that web/cloud servers cannot access.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19202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7E8F9"/>
                </a:solidFill>
              </a:defRPr>
            </a:pPr>
            <a:r>
              <a:t>📱 60 FPS Optical Stream &amp; AR HUD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Directly intercepts camera video feed to inspect UPI parameters (pa, pn, mc, am, tn) before payment handoff.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19202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7E8F9"/>
                </a:solidFill>
              </a:defRPr>
            </a:pPr>
            <a:r>
              <a:t>📱 Android Screen Barrier Overlay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Draws an emergency system-level overlay barrier over third-party UPI apps to physically lock touch input during attacks.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12080" cy="19202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7E8F9"/>
                </a:solidFill>
              </a:defRPr>
            </a:pPr>
            <a:r>
              <a:t>📱 Hardware Sensory Haptics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High-frequency sensory vibration pulses snap victims out of emotional panic during coercive voice calls.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212080" cy="19202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7E8F9"/>
                </a:solidFill>
              </a:defRPr>
            </a:pPr>
            <a:r>
              <a:t>📱 Biometric Hardware Enclave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Enforces physical Face/Fingerprint validation before any override, keeping security keys locked in the hardware enclave.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solidFill>
              <a:srgbClr val="03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7E8F9"/>
                </a:solidFill>
              </a:defRPr>
            </a:pPr>
            <a:r>
              <a:t>05. CORE AI (BROWNIE POINTS)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On-Device Edge AI Engine &amp; Zero-Knowledge Architecture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Quantized SLM running locally on the phone's NPU for sub-12ms threat detection with zero cloud telemetry.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16459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Google LiteRT / ONNX Mobile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Runtime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16459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7E8F9"/>
                </a:solidFill>
              </a:defRPr>
            </a:pPr>
            <a:r>
              <a:t>MobileBERT-INT8 (18 MB)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Quantized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16459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11.4 ms on Mobile NPU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Edge Latency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10698480" cy="2377440"/>
          </a:xfrm>
          <a:prstGeom prst="roundRect">
            <a:avLst/>
          </a:prstGeom>
          <a:solidFill>
            <a:srgbClr val="064E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7F3D0"/>
                </a:solidFill>
              </a:defRPr>
            </a:pPr>
            <a:r>
              <a:t>🔒 100% Zero-Knowledge Privacy &amp; DPDP Act Compliance</a:t>
            </a:r>
          </a:p>
          <a:p>
            <a:pPr>
              <a:spcBef>
                <a:spcPts val="800"/>
              </a:spcBef>
              <a:defRPr sz="1200">
                <a:solidFill>
                  <a:srgbClr val="D1FAE5"/>
                </a:solidFill>
              </a:defRPr>
            </a:pPr>
            <a:r>
              <a:t>✔ Zero Cloud Telemetry: Financial handles, SMS messages, OTPs, and audio streams NEVER leave the phone.</a:t>
            </a:r>
          </a:p>
          <a:p>
            <a:pPr>
              <a:spcBef>
                <a:spcPts val="800"/>
              </a:spcBef>
              <a:defRPr sz="1200">
                <a:solidFill>
                  <a:srgbClr val="D1FAE5"/>
                </a:solidFill>
              </a:defRPr>
            </a:pPr>
            <a:r>
              <a:t>✔ Airplane Mode Functional: 100% offline edge inference ensures fraud protection in underground metros and rural stalls.</a:t>
            </a:r>
          </a:p>
          <a:p>
            <a:pPr>
              <a:spcBef>
                <a:spcPts val="800"/>
              </a:spcBef>
              <a:defRPr sz="1200">
                <a:solidFill>
                  <a:srgbClr val="D1FAE5"/>
                </a:solidFill>
              </a:defRPr>
            </a:pPr>
            <a:r>
              <a:t>✔ Quantized Low Memory Footprint: Occupies only ~18MB RAM, running smoothly on budget Android devices without battery drain.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solidFill>
              <a:srgbClr val="03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7E8F9"/>
                </a:solidFill>
              </a:defRPr>
            </a:pPr>
            <a:r>
              <a:t>06. SYSTEM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Real-Time Threat Interception Pipeline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How AegisPay intercepts malicious actions across the entire transaction lifecycle.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1. Ingress Capture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</a:defRPr>
            </a:pPr>
            <a:r>
              <a:t>60 FPS Camera, Inbound SMS, Active Call Audio, UPI Intent Links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8328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2. On-Device SLM Core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</a:defRPr>
            </a:pPr>
            <a:r>
              <a:t>LiteRT MobileBERT &amp; Heuristic Engine analyzes threat in &lt; 12ms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3F5E"/>
                </a:solidFill>
              </a:defRPr>
            </a:pPr>
            <a:r>
              <a:t>3. Automated Defense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</a:defRPr>
            </a:pPr>
            <a:r>
              <a:t>Triggers High-Contrast Screen Overlay Lock + Vernacular Voice Alert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solidFill>
              <a:srgbClr val="03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7E8F9"/>
                </a:solidFill>
              </a:defRPr>
            </a:pPr>
            <a:r>
              <a:t>07. EXECUTION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30-Hour City Battle Hackathon Roadmap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Structured, milestone-driven execution plan for the in-person City Battle.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41148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Hours 0–6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Foundation &amp; Ingress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Camera stream setup, NPCI UPI URI parser, and HUD viewfinder.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468880" cy="41148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Hours 6–18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Edge AI Core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Embed LiteRT MobileBERT model, VPA entropy check, and quishing heuristics.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2468880" cy="41148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Hours 18–24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Lockdown &amp; Honeypot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Android barrier overlay, ScamBait AI persona, and multi-lingual voice alerts.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828800"/>
            <a:ext cx="2468880" cy="41148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Hours 24–30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Testing &amp; Polish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Live attack scenario testing, 1930 FIR validation, and final pitch presentation.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solidFill>
              <a:srgbClr val="03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7E8F9"/>
                </a:solidFill>
              </a:defRPr>
            </a:pPr>
            <a:r>
              <a:t>08. COMPETITIVE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Why AegisPay Wins Against Existing Solutions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Comparative evaluation against traditional banking apps and cloud-based antivirus tools.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40480"/>
                <a:gridCol w="3931920"/>
              </a:tblGrid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4A3B8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4A3B8"/>
                          </a:solidFill>
                        </a:defRPr>
                      </a:pPr>
                      <a:r>
                        <a:t>Traditional Banking / UPI Apps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AegisPay Edge AI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Threat Detection Point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43F5E"/>
                          </a:solidFill>
                        </a:defRPr>
                      </a:pPr>
                      <a:r>
                        <a:t>Post-transaction complaint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Pre-transaction preventative lock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Response Speed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43F5E"/>
                          </a:solidFill>
                        </a:defRPr>
                      </a:pPr>
                      <a:r>
                        <a:t>1,200ms – 3,000ms (Cloud API)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11.4ms (On-Device Mobile NPU)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Data Privacy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43F5E"/>
                          </a:solidFill>
                        </a:defRPr>
                      </a:pPr>
                      <a:r>
                        <a:t>Transmits OTPs &amp; logs to cloud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100% Zero-Knowledge Local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Active Counter-Offense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43F5E"/>
                          </a:solidFill>
                        </a:defRPr>
                      </a:pPr>
                      <a:r>
                        <a:t>None (Victims left helpless)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ScamBait AI Honeypot + 1930 FIR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Offline Availability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43F5E"/>
                          </a:solidFill>
                        </a:defRPr>
                      </a:pPr>
                      <a:r>
                        <a:t>Fails completely without network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100% Fully Functional Offline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solidFill>
              <a:srgbClr val="03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61104" y="914400"/>
            <a:ext cx="3657600" cy="411480"/>
          </a:xfrm>
          <a:prstGeom prst="roundRect">
            <a:avLst/>
          </a:prstGeom>
          <a:solidFill>
            <a:srgbClr val="064E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A7F3D0"/>
                </a:solidFill>
              </a:defRPr>
            </a:pPr>
            <a:r>
              <a:t>🏁 VISION &amp; CITY BATTLE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Protecting 300+ Million Digital Citizens</a:t>
            </a:r>
          </a:p>
          <a:p>
            <a:pPr algn="ctr">
              <a:defRPr sz="1800">
                <a:solidFill>
                  <a:srgbClr val="67E8F9"/>
                </a:solidFill>
              </a:defRPr>
            </a:pPr>
            <a:r>
              <a:t>Turning every smartphone into an autonomous, impenetrable personal security vault.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32304" y="3840480"/>
            <a:ext cx="7315200" cy="182880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Ready for iQOO Hackathon 2026 City Battle &amp; Grand Finale!</a:t>
            </a:r>
          </a:p>
          <a:p>
            <a:pPr algn="ctr">
              <a:spcBef>
                <a:spcPts val="800"/>
              </a:spcBef>
              <a:defRPr sz="1200">
                <a:solidFill>
                  <a:srgbClr val="67E8F9"/>
                </a:solidFill>
              </a:defRPr>
            </a:pPr>
            <a:r>
              <a:t>Live Prototype: aegispay-iqoo-hackathon.vercel.app</a:t>
            </a:r>
            <a:br/>
            <a:r>
              <a:t>GitHub: github.com/dineshkumarc-1/aegispay-iqoo-hackathon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